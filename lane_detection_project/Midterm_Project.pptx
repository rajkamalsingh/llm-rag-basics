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2A8D1D-1F38-4524-8585-2DFA331C56F4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9B1779E1-4609-4B83-A93A-688387A73291}" type="pres">
      <dgm:prSet presAssocID="{D02A8D1D-1F38-4524-8585-2DFA331C56F4}" presName="Name0" presStyleCnt="0">
        <dgm:presLayoutVars>
          <dgm:chMax val="7"/>
          <dgm:chPref val="7"/>
          <dgm:dir/>
          <dgm:animLvl val="lvl"/>
        </dgm:presLayoutVars>
      </dgm:prSet>
      <dgm:spPr/>
    </dgm:pt>
  </dgm:ptLst>
  <dgm:cxnLst>
    <dgm:cxn modelId="{D79E2BCD-91F5-45B7-B9CC-8357C9B05EE1}" type="presOf" srcId="{D02A8D1D-1F38-4524-8585-2DFA331C56F4}" destId="{9B1779E1-4609-4B83-A93A-688387A73291}" srcOrd="0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26246-1749-4D82-A6D0-DEC4136F2BFF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55709-3944-4060-BCDA-7D7FA21CB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3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71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7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0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7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1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9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4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9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2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2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8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84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title">
  <p:cSld name="Title 1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1015967" y="4565033"/>
            <a:ext cx="50768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733" b="0" i="1" u="none" strike="noStrike" cap="non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12367" y="4584033"/>
            <a:ext cx="50768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733" i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3733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50767" y="1323200"/>
            <a:ext cx="7577200" cy="28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73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5200"/>
              <a:buNone/>
              <a:defRPr sz="6933">
                <a:solidFill>
                  <a:srgbClr val="E42524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596967" y="4027600"/>
            <a:ext cx="96448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60801" y="203201"/>
            <a:ext cx="3621183" cy="362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6268" y="1155201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14167" y="4904202"/>
            <a:ext cx="2840797" cy="284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966" y="6075766"/>
            <a:ext cx="3349333" cy="394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4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808300" y="513367"/>
            <a:ext cx="11176000" cy="8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51567" y="1452333"/>
            <a:ext cx="7721200" cy="41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1219170" lvl="1" indent="-457189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800"/>
              <a:buChar char="○"/>
              <a:defRPr/>
            </a:lvl2pPr>
            <a:lvl3pPr marL="1828754" lvl="2" indent="-440256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14856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300"/>
              <a:buChar char="●"/>
              <a:defRPr/>
            </a:lvl4pPr>
            <a:lvl5pPr marL="3047924" lvl="4" indent="-389457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72524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Char char="■"/>
              <a:defRPr/>
            </a:lvl6pPr>
            <a:lvl7pPr marL="4267093" lvl="6" indent="-372524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Char char="●"/>
              <a:defRPr/>
            </a:lvl7pPr>
            <a:lvl8pPr marL="4876678" lvl="7" indent="-372524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Char char="○"/>
              <a:defRPr/>
            </a:lvl8pPr>
            <a:lvl9pPr marL="5486263" lvl="8" indent="-372524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10407512" y="5971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266" y="6037266"/>
            <a:ext cx="3349333" cy="39413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subTitle" idx="2"/>
          </p:nvPr>
        </p:nvSpPr>
        <p:spPr>
          <a:xfrm>
            <a:off x="5452533" y="6173900"/>
            <a:ext cx="4707600" cy="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8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44167" y="5873967"/>
            <a:ext cx="552679" cy="55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2234" y="6019266"/>
            <a:ext cx="1046695" cy="104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50722" y="6591455"/>
            <a:ext cx="433581" cy="433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0245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pos="5358">
          <p15:clr>
            <a:srgbClr val="FA7B17"/>
          </p15:clr>
        </p15:guide>
        <p15:guide id="4294967295" pos="40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7205E-E8DC-411A-8DFE-378CE87EB4B2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E17AA-BE60-4B45-B520-B9EF8F3A1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7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ctrTitle"/>
          </p:nvPr>
        </p:nvSpPr>
        <p:spPr>
          <a:xfrm>
            <a:off x="550766" y="422093"/>
            <a:ext cx="8258937" cy="298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lvl="0"/>
            <a:r>
              <a:rPr lang="en-US" sz="4800" dirty="0"/>
              <a:t>Real-World Lane Detection Using Classical Computer Vision</a:t>
            </a:r>
            <a:endParaRPr sz="4800" dirty="0">
              <a:solidFill>
                <a:srgbClr val="282828"/>
              </a:solidFill>
            </a:endParaRPr>
          </a:p>
        </p:txBody>
      </p:sp>
      <p:sp>
        <p:nvSpPr>
          <p:cNvPr id="191" name="Google Shape;191;p24"/>
          <p:cNvSpPr txBox="1">
            <a:spLocks noGrp="1"/>
          </p:cNvSpPr>
          <p:nvPr>
            <p:ph type="subTitle" idx="2"/>
          </p:nvPr>
        </p:nvSpPr>
        <p:spPr>
          <a:xfrm>
            <a:off x="596967" y="3717660"/>
            <a:ext cx="9644800" cy="132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/>
            <a:r>
              <a:rPr lang="en-US" dirty="0"/>
              <a:t>Analysis of Edge-Based Lane Detection in Real-World Conditions</a:t>
            </a:r>
            <a:endParaRPr dirty="0"/>
          </a:p>
        </p:txBody>
      </p:sp>
      <p:sp>
        <p:nvSpPr>
          <p:cNvPr id="192" name="Google Shape;192;p24"/>
          <p:cNvSpPr txBox="1">
            <a:spLocks noGrp="1"/>
          </p:cNvSpPr>
          <p:nvPr>
            <p:ph type="sldNum" idx="4294967295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>
              <a:buClr>
                <a:srgbClr val="000000"/>
              </a:buClr>
              <a:buSzPts val="1400"/>
            </a:pPr>
            <a:fld id="{00000000-1234-1234-1234-123412341234}" type="slidenum"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l">
                <a:buClr>
                  <a:srgbClr val="000000"/>
                </a:buClr>
                <a:buSzPts val="1400"/>
              </a:pPr>
              <a:t>1</a:t>
            </a:fld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91;p24"/>
          <p:cNvSpPr txBox="1">
            <a:spLocks noGrp="1"/>
          </p:cNvSpPr>
          <p:nvPr>
            <p:ph type="subTitle" idx="2"/>
          </p:nvPr>
        </p:nvSpPr>
        <p:spPr>
          <a:xfrm>
            <a:off x="596967" y="4399885"/>
            <a:ext cx="9644800" cy="4644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/>
            <a:r>
              <a:rPr lang="en-US" sz="2667" dirty="0"/>
              <a:t>Presenter – Raj Kamal Singh</a:t>
            </a:r>
            <a:endParaRPr sz="2667" dirty="0"/>
          </a:p>
        </p:txBody>
      </p:sp>
    </p:spTree>
    <p:extLst>
      <p:ext uri="{BB962C8B-B14F-4D97-AF65-F5344CB8AC3E}">
        <p14:creationId xmlns:p14="http://schemas.microsoft.com/office/powerpoint/2010/main" val="302034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Project?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1567" y="1452334"/>
            <a:ext cx="9797384" cy="4427357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Lane detection is critical for autonomous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vehicles.</a:t>
            </a:r>
          </a:p>
          <a:p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Classical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CV methods are interpretable but sensitive to real-world noise. 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Goal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Analyze strengths and weaknesses of edge-based lane detection in realistic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6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Lane Detection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1" y="1348167"/>
            <a:ext cx="7983275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Convert frame to grayscale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Apply histogram equalization (contrast enhancement)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Gaussian blur for noise reduction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Canny edge detection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Region of Interest (ROI) masking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Hough Line Transform for lane detection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Slope filtering to remove irrelevant edges </a:t>
            </a:r>
          </a:p>
        </p:txBody>
      </p:sp>
      <p:sp>
        <p:nvSpPr>
          <p:cNvPr id="7" name="Rectangle 6"/>
          <p:cNvSpPr/>
          <p:nvPr/>
        </p:nvSpPr>
        <p:spPr>
          <a:xfrm>
            <a:off x="808301" y="4264099"/>
            <a:ext cx="7516551" cy="1405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33" dirty="0"/>
              <a:t>Two versions of the pipeline were implemented: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b="1" dirty="0"/>
              <a:t>Baseline pipeline</a:t>
            </a:r>
            <a:r>
              <a:rPr lang="en-US" sz="2133" dirty="0"/>
              <a:t>: fixed thresholds, minimal preprocessing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b="1" dirty="0"/>
              <a:t>Improved pipeline</a:t>
            </a:r>
            <a:r>
              <a:rPr lang="en-US" sz="2133" dirty="0"/>
              <a:t>: adaptive thresholding, contrast enhancement, and noise filtering</a:t>
            </a:r>
          </a:p>
        </p:txBody>
      </p:sp>
      <p:graphicFrame>
        <p:nvGraphicFramePr>
          <p:cNvPr id="9" name="Diagram 8"/>
          <p:cNvGraphicFramePr/>
          <p:nvPr/>
        </p:nvGraphicFramePr>
        <p:xfrm>
          <a:off x="2032000" y="71966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9423396" y="1454306"/>
            <a:ext cx="1520824" cy="693492"/>
            <a:chOff x="0" y="275"/>
            <a:chExt cx="1104899" cy="593284"/>
          </a:xfrm>
        </p:grpSpPr>
        <p:sp>
          <p:nvSpPr>
            <p:cNvPr id="16" name="Up Arrow Callout 15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Gray</a:t>
              </a:r>
              <a:endParaRPr lang="en-US" sz="1867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9399589" y="765563"/>
            <a:ext cx="1520825" cy="704168"/>
            <a:chOff x="0" y="275"/>
            <a:chExt cx="1104899" cy="593284"/>
          </a:xfrm>
        </p:grpSpPr>
        <p:sp>
          <p:nvSpPr>
            <p:cNvPr id="28" name="Up Arrow Callout 27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Video</a:t>
              </a:r>
              <a:endParaRPr lang="en-US" sz="1867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423397" y="2132299"/>
            <a:ext cx="1520825" cy="826071"/>
            <a:chOff x="0" y="275"/>
            <a:chExt cx="1104899" cy="593284"/>
          </a:xfrm>
        </p:grpSpPr>
        <p:sp>
          <p:nvSpPr>
            <p:cNvPr id="31" name="Up Arrow Callout 30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Blur</a:t>
              </a:r>
              <a:endParaRPr lang="en-US" sz="1867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423397" y="2937398"/>
            <a:ext cx="1520824" cy="686263"/>
            <a:chOff x="0" y="275"/>
            <a:chExt cx="1104899" cy="593284"/>
          </a:xfrm>
        </p:grpSpPr>
        <p:sp>
          <p:nvSpPr>
            <p:cNvPr id="34" name="Up Arrow Callout 33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Canny</a:t>
              </a:r>
              <a:endParaRPr lang="en-US" sz="1867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423400" y="3623661"/>
            <a:ext cx="1531937" cy="701092"/>
            <a:chOff x="0" y="275"/>
            <a:chExt cx="1104899" cy="593284"/>
          </a:xfrm>
        </p:grpSpPr>
        <p:sp>
          <p:nvSpPr>
            <p:cNvPr id="37" name="Up Arrow Callout 36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ROI</a:t>
              </a:r>
              <a:endParaRPr lang="en-US" sz="1867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9456739" y="4352660"/>
            <a:ext cx="1498597" cy="672912"/>
            <a:chOff x="0" y="275"/>
            <a:chExt cx="1104899" cy="593284"/>
          </a:xfrm>
        </p:grpSpPr>
        <p:sp>
          <p:nvSpPr>
            <p:cNvPr id="40" name="Up Arrow Callout 39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Hough</a:t>
              </a:r>
              <a:endParaRPr lang="en-US" sz="1867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471024" y="5012608"/>
            <a:ext cx="1476373" cy="726032"/>
            <a:chOff x="0" y="275"/>
            <a:chExt cx="1104899" cy="593284"/>
          </a:xfrm>
        </p:grpSpPr>
        <p:sp>
          <p:nvSpPr>
            <p:cNvPr id="43" name="Up Arrow Callout 42"/>
            <p:cNvSpPr/>
            <p:nvPr/>
          </p:nvSpPr>
          <p:spPr>
            <a:xfrm rot="10800000">
              <a:off x="0" y="275"/>
              <a:ext cx="1104899" cy="593284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Up Arrow Callout 4"/>
            <p:cNvSpPr/>
            <p:nvPr/>
          </p:nvSpPr>
          <p:spPr>
            <a:xfrm>
              <a:off x="0" y="275"/>
              <a:ext cx="1104899" cy="385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2757" tIns="132757" rIns="132757" bIns="132757" numCol="1" spcCol="1270" anchor="ctr" anchorCtr="0">
              <a:noAutofit/>
            </a:bodyPr>
            <a:lstStyle/>
            <a:p>
              <a:pPr algn="ctr" defTabSz="82971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67" dirty="0"/>
                <a:t>Lanes</a:t>
              </a:r>
              <a:endParaRPr lang="en-US" sz="1867" dirty="0"/>
            </a:p>
          </p:txBody>
        </p:sp>
      </p:grpSp>
      <p:sp>
        <p:nvSpPr>
          <p:cNvPr id="45" name="Rectangle 44"/>
          <p:cNvSpPr/>
          <p:nvPr/>
        </p:nvSpPr>
        <p:spPr>
          <a:xfrm>
            <a:off x="9571035" y="5484362"/>
            <a:ext cx="1373185" cy="254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6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Experiments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1" y="1348168"/>
            <a:ext cx="584015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b="1" dirty="0">
                <a:latin typeface="Arial" panose="020B0604020202020204" pitchFamily="34" charset="0"/>
              </a:rPr>
              <a:t>Gaussian Blur Study:</a:t>
            </a:r>
            <a:r>
              <a:rPr lang="en-US" altLang="en-US" sz="2400" dirty="0">
                <a:latin typeface="Arial" panose="020B0604020202020204" pitchFamily="34" charset="0"/>
              </a:rPr>
              <a:t> Effect of kernel size on edges and noise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b="1" dirty="0">
                <a:latin typeface="Arial" panose="020B0604020202020204" pitchFamily="34" charset="0"/>
              </a:rPr>
              <a:t>Canny Threshold Sensitivity:</a:t>
            </a:r>
            <a:r>
              <a:rPr lang="en-US" altLang="en-US" sz="2400" dirty="0">
                <a:latin typeface="Arial" panose="020B0604020202020204" pitchFamily="34" charset="0"/>
              </a:rPr>
              <a:t> How thresholds impact edge detection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b="1" dirty="0">
                <a:latin typeface="Arial" panose="020B0604020202020204" pitchFamily="34" charset="0"/>
              </a:rPr>
              <a:t>Real-World Stress Testing:</a:t>
            </a:r>
            <a:r>
              <a:rPr lang="en-US" altLang="en-US" sz="2400" dirty="0">
                <a:latin typeface="Arial" panose="020B0604020202020204" pitchFamily="34" charset="0"/>
              </a:rPr>
              <a:t> Shadows, bright light, motion blur, cluttered background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b="1" dirty="0">
                <a:latin typeface="Arial" panose="020B0604020202020204" pitchFamily="34" charset="0"/>
              </a:rPr>
              <a:t>Baseline vs Improved Comparison:</a:t>
            </a:r>
            <a:r>
              <a:rPr lang="en-US" altLang="en-US" sz="2400" dirty="0">
                <a:latin typeface="Arial" panose="020B0604020202020204" pitchFamily="34" charset="0"/>
              </a:rPr>
              <a:t> Quantitative and qualitative performance analysis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848" y="1348167"/>
            <a:ext cx="2140752" cy="16055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936" y="1348166"/>
            <a:ext cx="2140752" cy="16055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1848" y="2953729"/>
            <a:ext cx="4611840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67" dirty="0"/>
              <a:t>Identified edges in same frame with kernel size 3*3(left) and 9*9(right) for Gaussian blur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848" y="3559033"/>
            <a:ext cx="2140752" cy="16055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936" y="3559033"/>
            <a:ext cx="2140752" cy="16055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1848" y="5164596"/>
            <a:ext cx="4611840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67" dirty="0"/>
              <a:t>Identified edges in same frame with canny threshold (50,150) (left) and (150,300) (right)</a:t>
            </a:r>
          </a:p>
        </p:txBody>
      </p:sp>
    </p:spTree>
    <p:extLst>
      <p:ext uri="{BB962C8B-B14F-4D97-AF65-F5344CB8AC3E}">
        <p14:creationId xmlns:p14="http://schemas.microsoft.com/office/powerpoint/2010/main" val="30883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Visual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7" y="1452333"/>
            <a:ext cx="3753156" cy="28148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918" y="1452333"/>
            <a:ext cx="3753156" cy="2814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7494" y="4371367"/>
            <a:ext cx="27813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Base pipeline for 600</a:t>
            </a:r>
            <a:r>
              <a:rPr lang="en-US" sz="1467" baseline="30000" dirty="0"/>
              <a:t>th</a:t>
            </a:r>
            <a:r>
              <a:rPr lang="en-US" sz="1467" dirty="0"/>
              <a:t>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9054" y="4371367"/>
            <a:ext cx="300688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Improved pipeline for 600</a:t>
            </a:r>
            <a:r>
              <a:rPr lang="en-US" sz="1467" baseline="30000" dirty="0"/>
              <a:t>th</a:t>
            </a:r>
            <a:r>
              <a:rPr lang="en-US" sz="1467" dirty="0"/>
              <a:t> frame</a:t>
            </a:r>
          </a:p>
        </p:txBody>
      </p:sp>
    </p:spTree>
    <p:extLst>
      <p:ext uri="{BB962C8B-B14F-4D97-AF65-F5344CB8AC3E}">
        <p14:creationId xmlns:p14="http://schemas.microsoft.com/office/powerpoint/2010/main" val="974271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0" y="1360376"/>
            <a:ext cx="684738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Shadows: false edges detected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Bright sunlight: weak lane detection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Motion blur: fragmented or missing lanes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Curved lanes: straight-line detection limitation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00" y="3057525"/>
            <a:ext cx="3149600" cy="2362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500" y="3057526"/>
            <a:ext cx="3149601" cy="23622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575" y="3032624"/>
            <a:ext cx="3192725" cy="2394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450" y="5419726"/>
            <a:ext cx="27813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Lane detection in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5649" y="5419726"/>
            <a:ext cx="27813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Lane detection on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7287" y="5419726"/>
            <a:ext cx="278130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Lane detection in cities</a:t>
            </a:r>
          </a:p>
        </p:txBody>
      </p:sp>
    </p:spTree>
    <p:extLst>
      <p:ext uri="{BB962C8B-B14F-4D97-AF65-F5344CB8AC3E}">
        <p14:creationId xmlns:p14="http://schemas.microsoft.com/office/powerpoint/2010/main" val="50327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Enhancements to 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1" y="1348168"/>
            <a:ext cx="875656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Histogram equalization for contrast enhancement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Adaptive Canny thresholds for dynamic edge detection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Morphological operations (dilate + erode) to connect edges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Slope filtering to remove irrelevant lines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077" y="2948606"/>
            <a:ext cx="3220273" cy="24152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652" y="2948606"/>
            <a:ext cx="3220273" cy="24152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01077" y="5363811"/>
            <a:ext cx="7439848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dirty="0"/>
              <a:t>Different frames showing detected lane with improved pipeline</a:t>
            </a:r>
          </a:p>
        </p:txBody>
      </p:sp>
    </p:spTree>
    <p:extLst>
      <p:ext uri="{BB962C8B-B14F-4D97-AF65-F5344CB8AC3E}">
        <p14:creationId xmlns:p14="http://schemas.microsoft.com/office/powerpoint/2010/main" val="150816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smtClean="0"/>
          </a:p>
          <a:p>
            <a:pPr>
              <a:buSzPts val="1300"/>
            </a:pPr>
            <a:endParaRPr lang="en" sz="1733" b="0"/>
          </a:p>
        </p:txBody>
      </p:sp>
      <p:sp>
        <p:nvSpPr>
          <p:cNvPr id="5" name="Subtitle 4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1" y="1348166"/>
            <a:ext cx="9555945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Classical edge-based lane detection works well in simple conditions.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Performance degrades under shadows, bright light, and motion blur.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Improvements (contrast, adaptive thresholds, morphology) increase robustness. </a:t>
            </a:r>
          </a:p>
          <a:p>
            <a:pPr marL="380990" indent="-38099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Highlights the </a:t>
            </a:r>
            <a:r>
              <a:rPr lang="en-US" altLang="en-US" sz="2400" b="1" dirty="0">
                <a:latin typeface="Arial" panose="020B0604020202020204" pitchFamily="34" charset="0"/>
              </a:rPr>
              <a:t>limitations of traditional methods</a:t>
            </a:r>
            <a:r>
              <a:rPr lang="en-US" altLang="en-US" sz="2400" dirty="0">
                <a:latin typeface="Arial" panose="020B0604020202020204" pitchFamily="34" charset="0"/>
              </a:rPr>
              <a:t> in real-world environments. </a:t>
            </a:r>
          </a:p>
        </p:txBody>
      </p:sp>
    </p:spTree>
    <p:extLst>
      <p:ext uri="{BB962C8B-B14F-4D97-AF65-F5344CB8AC3E}">
        <p14:creationId xmlns:p14="http://schemas.microsoft.com/office/powerpoint/2010/main" val="372197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Source Sans Pro</vt:lpstr>
      <vt:lpstr>Office Theme</vt:lpstr>
      <vt:lpstr>Real-World Lane Detection Using Classical Computer Vision</vt:lpstr>
      <vt:lpstr>Why This Project?</vt:lpstr>
      <vt:lpstr>Lane Detection Pipeline</vt:lpstr>
      <vt:lpstr>Structured Experiments</vt:lpstr>
      <vt:lpstr>Results: Visual Comparison</vt:lpstr>
      <vt:lpstr>Real-World Challenges</vt:lpstr>
      <vt:lpstr>Enhancements to Baseline</vt:lpstr>
      <vt:lpstr>Key Takeaways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Real-World Lane Detection Using Classical Computer Vision</dc:title>
  <dc:creator>Raj Kamal Singh</dc:creator>
  <cp:lastModifiedBy>Raj Kamal Singh</cp:lastModifiedBy>
  <cp:revision>1</cp:revision>
  <dcterms:created xsi:type="dcterms:W3CDTF">2026-03-31T01:49:13Z</dcterms:created>
  <dcterms:modified xsi:type="dcterms:W3CDTF">2026-03-31T01:49:33Z</dcterms:modified>
</cp:coreProperties>
</file>